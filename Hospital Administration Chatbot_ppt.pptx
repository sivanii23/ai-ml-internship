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Plus Jakarta Sans" panose="020B0604020202020204" charset="0"/>
      <p:regular r:id="rId22"/>
      <p:bold r:id="rId23"/>
      <p:italic r:id="rId24"/>
      <p:boldItalic r:id="rId25"/>
    </p:embeddedFont>
    <p:embeddedFont>
      <p:font typeface="Plus Jakarta Sans ExtraBold" panose="020B0604020202020204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196E5E-0A78-44F4-B39F-787B0C11C3CC}">
  <a:tblStyle styleId="{50196E5E-0A78-44F4-B39F-787B0C11C3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14e48517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f14e48517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14e48517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f14e48517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14e48517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f14e48517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3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13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3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912" y="333461"/>
            <a:ext cx="23145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745152" y="562805"/>
            <a:ext cx="8446055" cy="122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Hospital Administration Chatbot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Using Deep Learning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285962" y="2765045"/>
            <a:ext cx="7620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intelligent conversational agent built to streamline operational inquiries, automate scheduling logistics, and reduce manual administrative overhead.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967162" y="4898528"/>
            <a:ext cx="4257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5A3CA8-2537-3628-B0CC-D294FD93E4EC}"/>
              </a:ext>
            </a:extLst>
          </p:cNvPr>
          <p:cNvSpPr txBox="1"/>
          <p:nvPr/>
        </p:nvSpPr>
        <p:spPr>
          <a:xfrm>
            <a:off x="8224762" y="4898976"/>
            <a:ext cx="366959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1.AISHATH REHAM</a:t>
            </a: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2.AISWARYA P S</a:t>
            </a: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3.SIVANI</a:t>
            </a: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4.SOUMYA</a:t>
            </a: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5.SHANKAR UNNIKRISHNAN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212181"/>
            <a:ext cx="33971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212181"/>
            <a:ext cx="3397299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175" y="2212181"/>
            <a:ext cx="33971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71525" y="5250656"/>
            <a:ext cx="10648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By providing standard automated FAQs, patients receive instantaneous responses, improving satisfaction and retention rates.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81051" y="3569493"/>
            <a:ext cx="3378098" cy="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50745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66800" y="3174206"/>
            <a:ext cx="294693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 Automation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66800" y="3526631"/>
            <a:ext cx="280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 an adaptive, deep learning-powered chatbot system designed specifically to handle complex clinical administration flows and immediate inquiry answering.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4406800" y="3569493"/>
            <a:ext cx="3378250" cy="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550" y="250745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692550" y="3174206"/>
            <a:ext cx="29470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Appointment Handling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92550" y="3526631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Provide patients with end-to-end self-service scheduling workflows. Patients can complete reservations and cancel existing bookings completely automated.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8032701" y="3569493"/>
            <a:ext cx="3378098" cy="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8450" y="250745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318450" y="3174206"/>
            <a:ext cx="294693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Efficiency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18450" y="3526631"/>
            <a:ext cx="280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Significantly minimize reception and front-desk administrative friction, re-allocating valuable hospital human resources to high-criticality patient care duties.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71575" y="2640806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40188" y="2640806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3225" y="264080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771525" y="581025"/>
            <a:ext cx="11181397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Objective of the </a:t>
            </a:r>
            <a:r>
              <a:rPr lang="en-US" sz="2850" b="0" i="0" u="none" strike="noStrike" cap="none">
                <a:solidFill>
                  <a:srgbClr val="2DD4B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Project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71525" y="1033462"/>
            <a:ext cx="6137824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707356"/>
            <a:ext cx="5133975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07356"/>
            <a:ext cx="5133975" cy="146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361580"/>
            <a:ext cx="5133975" cy="1463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" name="Google Shape;123;p15"/>
          <p:cNvGraphicFramePr/>
          <p:nvPr/>
        </p:nvGraphicFramePr>
        <p:xfrm>
          <a:off x="781050" y="17168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{50196E5E-0A78-44F4-B39F-787B0C11C3CC}</a:tableStyleId>
              </a:tblPr>
              <a:tblGrid>
                <a:gridCol w="156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Administrative 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Features Profiled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Shape / Volume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66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Patients Dataset</a:t>
                      </a:r>
                      <a:endParaRPr>
                        <a:solidFill>
                          <a:srgbClr val="66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patient_id, first_name, last_name, gender, contact, insurance_provider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(50, 10) / 50 records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66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Doctors Dataset</a:t>
                      </a:r>
                      <a:endParaRPr>
                        <a:solidFill>
                          <a:srgbClr val="66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highlight>
                            <a:schemeClr val="lt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doctor_id, specialization, experience, timings, profile_details</a:t>
                      </a:r>
                      <a:endParaRPr>
                        <a:highlight>
                          <a:schemeClr val="lt2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(10, 6) / 10 records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66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Appointments Dataset</a:t>
                      </a:r>
                      <a:endParaRPr>
                        <a:solidFill>
                          <a:srgbClr val="66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appointment_id, patient_id, doctor_id, appointment_date, 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</a:t>
                      </a: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200, 7) / 200 records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66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Synthetic Core FAQ</a:t>
                      </a:r>
                      <a:endParaRPr>
                        <a:solidFill>
                          <a:srgbClr val="66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Parking, Pharmacy, Cafeteria, Wheelchair Access, Timings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Custom intent-mapped arrays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4" name="Google Shape;124;p15"/>
          <p:cNvSpPr/>
          <p:nvPr/>
        </p:nvSpPr>
        <p:spPr>
          <a:xfrm>
            <a:off x="781050" y="2593181"/>
            <a:ext cx="1568201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349251" y="2593181"/>
            <a:ext cx="230073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649985" y="2593181"/>
            <a:ext cx="1245989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781800" y="1955006"/>
            <a:ext cx="4610576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Context Integration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34150" y="2283618"/>
            <a:ext cx="463867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core model correlates dynamic database queries from Patients, Doctors, and Appointment states to support contextual transactions and confirm logic integrity.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800850" y="3609230"/>
            <a:ext cx="4590573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Manually Created Knowledge Base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34150" y="3937843"/>
            <a:ext cx="463867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assure high availability for facilities questions, manual FAQ mappings were synthesized to handle general conversational protocols, greetings, and structural details.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781050" y="3407568"/>
            <a:ext cx="15682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2349251" y="3407568"/>
            <a:ext cx="23007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4649985" y="3407568"/>
            <a:ext cx="12459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781050" y="4207668"/>
            <a:ext cx="15682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2349251" y="4207668"/>
            <a:ext cx="23007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649985" y="4207668"/>
            <a:ext cx="12459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81050" y="5007768"/>
            <a:ext cx="15682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349251" y="5007768"/>
            <a:ext cx="23007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4649985" y="5007768"/>
            <a:ext cx="12459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197643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363066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771525" y="581025"/>
            <a:ext cx="11181397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Administrative </a:t>
            </a:r>
            <a:r>
              <a:rPr lang="en-US" sz="2850" b="0" i="0" u="none" strike="noStrike" cap="none">
                <a:solidFill>
                  <a:srgbClr val="2DD4B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Datasets &amp; Statistics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771525" y="1033462"/>
            <a:ext cx="408607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467969"/>
            <a:ext cx="106489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613719"/>
            <a:ext cx="2376487" cy="134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9012" y="2613719"/>
            <a:ext cx="2376487" cy="134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613719"/>
            <a:ext cx="2376487" cy="152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3987" y="2613719"/>
            <a:ext cx="2376487" cy="134466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1047750" y="4689425"/>
            <a:ext cx="2650331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STACK &amp; APIS UTILIZED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76600" y="327883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34087" y="327883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91575" y="327883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86375" y="4629894"/>
            <a:ext cx="714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15050" y="4629894"/>
            <a:ext cx="714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43725" y="4629894"/>
            <a:ext cx="1428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86775" y="4629894"/>
            <a:ext cx="8191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420225" y="4629894"/>
            <a:ext cx="17240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1000125" y="2813744"/>
            <a:ext cx="204525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Input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1000125" y="3118544"/>
            <a:ext cx="1947862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 language query submitted by patient (e.g. scheduling request).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3757612" y="2813744"/>
            <a:ext cx="204525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Preprocessing &amp; NLP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3757612" y="3118544"/>
            <a:ext cx="1947862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Tokenization and sequences mapping with standard padding layers.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515100" y="2813744"/>
            <a:ext cx="2045255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LSTM Class Prediction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515100" y="3294757"/>
            <a:ext cx="1947862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core neural network predicts intents across trained health domains.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9272587" y="2813744"/>
            <a:ext cx="204525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Action/Response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9272587" y="3118544"/>
            <a:ext cx="1947862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Triggers appointment SQL queries or outputs direct facility context answers.</a:t>
            </a:r>
            <a:endParaRPr/>
          </a:p>
        </p:txBody>
      </p:sp>
      <p:pic>
        <p:nvPicPr>
          <p:cNvPr id="171" name="Google Shape;171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00125" y="281374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757612" y="281374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15100" y="2901850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272587" y="28137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771525" y="581025"/>
            <a:ext cx="11181397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End-to-End </a:t>
            </a:r>
            <a:r>
              <a:rPr lang="en-US" sz="2850" b="0" i="0" u="none" strike="noStrike" cap="none">
                <a:solidFill>
                  <a:srgbClr val="2DD4B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System Workflow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771525" y="1033462"/>
            <a:ext cx="4952704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81585"/>
            <a:ext cx="51339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262610"/>
            <a:ext cx="51339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843635"/>
            <a:ext cx="51339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424660"/>
            <a:ext cx="513397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1104900" y="2229147"/>
            <a:ext cx="504063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Sequential Layer Stack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6591300" y="2229147"/>
            <a:ext cx="5070633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Intent Classes &amp; Specialization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286500" y="2681585"/>
            <a:ext cx="5133975" cy="883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model classifies sequence prompts into high-level medical operational intents: </a:t>
            </a:r>
            <a:r>
              <a:rPr lang="en-US" sz="1087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Appointment Booking, Appointment Cancellation, Doctor Availability, Insurance validation, Facility operations, Emergency context, and common FAQs</a:t>
            </a:r>
            <a:r>
              <a:rPr lang="en-US" sz="1087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6286500" y="3755528"/>
            <a:ext cx="539067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Advantages of utilizing LSTM:</a:t>
            </a:r>
            <a:endParaRPr/>
          </a:p>
        </p:txBody>
      </p:sp>
      <p:pic>
        <p:nvPicPr>
          <p:cNvPr id="190" name="Google Shape;19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255341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25534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6553200" y="4060328"/>
            <a:ext cx="4867275" cy="23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Sequential Capability: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Processes sequential textual patterns perfectly.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553200" y="4639419"/>
            <a:ext cx="48672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Contextual Retention: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Remembers short-term word structures essential for mapping precise conversational targets.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553200" y="5210474"/>
            <a:ext cx="48672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Efficiency: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Highly scalable for multi-class medical intent routing.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971550" y="2824460"/>
            <a:ext cx="18384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Input        Processing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4191000" y="2838747"/>
            <a:ext cx="1514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2DD4B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Raw Query Input Vectors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971550" y="3405485"/>
            <a:ext cx="19050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   </a:t>
            </a: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Embedding Layer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4038600" y="3419772"/>
            <a:ext cx="16668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2DD4B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Tensor Dimension Mapping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971550" y="3986510"/>
            <a:ext cx="18669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                  </a:t>
            </a:r>
            <a:r>
              <a:rPr lang="en-US"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</a:t>
            </a: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eep LSTM Layer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3886200" y="4000797"/>
            <a:ext cx="18192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2DD4B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Sequential Context Mappings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971550" y="4567535"/>
            <a:ext cx="1886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   </a:t>
            </a: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Dense &amp; Softmax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4210050" y="4581822"/>
            <a:ext cx="14954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2DD4B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Intent Probability Matrix</a:t>
            </a:r>
            <a:endParaRPr/>
          </a:p>
        </p:txBody>
      </p:sp>
      <p:pic>
        <p:nvPicPr>
          <p:cNvPr id="203" name="Google Shape;20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2833985"/>
            <a:ext cx="504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1550" y="3415010"/>
            <a:ext cx="523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1550" y="3996035"/>
            <a:ext cx="523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1550" y="4577060"/>
            <a:ext cx="523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286500" y="409842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24600" y="46394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286500" y="5111799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771525" y="581025"/>
            <a:ext cx="11181397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Core Deep Learning </a:t>
            </a:r>
            <a:r>
              <a:rPr lang="en-US" sz="2850" b="0" i="0" u="none" strike="noStrike" cap="none">
                <a:solidFill>
                  <a:srgbClr val="2DD4B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Engine: LSTM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771525" y="1033462"/>
            <a:ext cx="448612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99" y="14499"/>
            <a:ext cx="12906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035968"/>
            <a:ext cx="22479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71825" y="2035968"/>
            <a:ext cx="22479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72125" y="2035968"/>
            <a:ext cx="22479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72425" y="2035968"/>
            <a:ext cx="22479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72725" y="2035968"/>
            <a:ext cx="22479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71850" y="5064918"/>
            <a:ext cx="18478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72150" y="5064918"/>
            <a:ext cx="18478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72450" y="5064918"/>
            <a:ext cx="18478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572750" y="5064918"/>
            <a:ext cx="18478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/>
          <p:nvPr/>
        </p:nvSpPr>
        <p:spPr>
          <a:xfrm>
            <a:off x="360575" y="2045418"/>
            <a:ext cx="2229000" cy="3600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14475" y="237886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2971188" y="2146993"/>
            <a:ext cx="2229000" cy="3600600"/>
          </a:xfrm>
          <a:prstGeom prst="roundRect">
            <a:avLst>
              <a:gd name="adj" fmla="val 512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914775" y="237886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/>
          <p:nvPr/>
        </p:nvSpPr>
        <p:spPr>
          <a:xfrm>
            <a:off x="5581650" y="2045493"/>
            <a:ext cx="2229000" cy="3600600"/>
          </a:xfrm>
          <a:prstGeom prst="roundRect">
            <a:avLst>
              <a:gd name="adj" fmla="val 512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315075" y="237886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/>
          <p:nvPr/>
        </p:nvSpPr>
        <p:spPr>
          <a:xfrm>
            <a:off x="7981950" y="2045493"/>
            <a:ext cx="2229000" cy="3600600"/>
          </a:xfrm>
          <a:prstGeom prst="roundRect">
            <a:avLst>
              <a:gd name="adj" fmla="val 512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715375" y="237886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/>
          <p:nvPr/>
        </p:nvSpPr>
        <p:spPr>
          <a:xfrm>
            <a:off x="10382250" y="2045493"/>
            <a:ext cx="2229000" cy="3600600"/>
          </a:xfrm>
          <a:prstGeom prst="roundRect">
            <a:avLst>
              <a:gd name="adj" fmla="val 512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115675" y="237886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/>
        </p:nvSpPr>
        <p:spPr>
          <a:xfrm>
            <a:off x="925353" y="3749278"/>
            <a:ext cx="1940100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Greeting &amp; Timings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971550" y="4004071"/>
            <a:ext cx="1848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Conversational greeting protocol and detailed clinical operating hours verification.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3325653" y="3749278"/>
            <a:ext cx="1940100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Booking Intention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3371850" y="4033069"/>
            <a:ext cx="184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Interactive forms capturing key patient inputs (Name, Contact, Address details).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5725953" y="3749278"/>
            <a:ext cx="1940100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Booking Success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5772150" y="4004071"/>
            <a:ext cx="1848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Dynamic database write-back assigning a uniquely tracking Patient Appointment ID.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8126253" y="3749278"/>
            <a:ext cx="1940100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Cancellation Flow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8172450" y="4004071"/>
            <a:ext cx="1848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Real-time appointment voiding routines utilizing indexed system booking IDs.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10687050" y="3749278"/>
            <a:ext cx="1619100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Facilities &amp; Insurance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10687050" y="4004071"/>
            <a:ext cx="16191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Direct query extraction mapping medical facilities, parking lists, and valid insurers.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771525" y="581025"/>
            <a:ext cx="1118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Interactive</a:t>
            </a:r>
            <a:r>
              <a:rPr lang="en-US" sz="28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Streamlit </a:t>
            </a:r>
            <a:r>
              <a:rPr lang="en-US" sz="2850" b="0" i="0" u="none" strike="noStrike" cap="none">
                <a:solidFill>
                  <a:srgbClr val="2DD4B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Application Interface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771525" y="1033462"/>
            <a:ext cx="3034500" cy="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9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921668"/>
            <a:ext cx="513397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940968"/>
            <a:ext cx="513397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09812" y="2216943"/>
            <a:ext cx="20574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95525" y="4236243"/>
            <a:ext cx="20859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/>
          <p:cNvSpPr txBox="1"/>
          <p:nvPr/>
        </p:nvSpPr>
        <p:spPr>
          <a:xfrm>
            <a:off x="6286500" y="1921668"/>
            <a:ext cx="53906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Validation Summary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6286500" y="2350293"/>
            <a:ext cx="51339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LSTM model exhibits robust optimization during training with minimal loss convergence divergence, ensuring accurate medical intent understanding during real-time queries.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6286500" y="3264693"/>
            <a:ext cx="5390673" cy="25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System Enhancements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2414587" y="3264693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TRAINING ACCURACY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2314575" y="5283993"/>
            <a:ext cx="2047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VALIDATION ACCURACY</a:t>
            </a:r>
            <a:endParaRPr/>
          </a:p>
        </p:txBody>
      </p:sp>
      <p:pic>
        <p:nvPicPr>
          <p:cNvPr id="262" name="Google Shape;26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195976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3293268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 txBox="1"/>
          <p:nvPr/>
        </p:nvSpPr>
        <p:spPr>
          <a:xfrm>
            <a:off x="6553200" y="3629025"/>
            <a:ext cx="4867275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Acoustic Conversational Unit: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Integrate speech-to-text NLP interactions.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6553200" y="4253805"/>
            <a:ext cx="4867275" cy="23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Live EHR Integration: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Real-time production Database synchronization.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6548200" y="4952570"/>
            <a:ext cx="48672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 Physician Track: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True online doctor tracking systems.</a:t>
            </a:r>
            <a:endParaRPr/>
          </a:p>
        </p:txBody>
      </p:sp>
      <p:pic>
        <p:nvPicPr>
          <p:cNvPr id="267" name="Google Shape;26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86500" y="366712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86500" y="429190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19838" y="496577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9"/>
          <p:cNvSpPr txBox="1"/>
          <p:nvPr/>
        </p:nvSpPr>
        <p:spPr>
          <a:xfrm>
            <a:off x="771525" y="581025"/>
            <a:ext cx="11181397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Performance Results &amp; </a:t>
            </a:r>
            <a:r>
              <a:rPr lang="en-US" sz="2850" b="0" i="0" u="none" strike="noStrike" cap="none">
                <a:solidFill>
                  <a:srgbClr val="2DD4B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Conclusion</a:t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771525" y="1033462"/>
            <a:ext cx="4331789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/>
        </p:nvSpPr>
        <p:spPr>
          <a:xfrm>
            <a:off x="1866900" y="3600896"/>
            <a:ext cx="9553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771525" y="581025"/>
            <a:ext cx="112221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UI Screenshots</a:t>
            </a:r>
            <a:endParaRPr sz="1800"/>
          </a:p>
        </p:txBody>
      </p:sp>
      <p:sp>
        <p:nvSpPr>
          <p:cNvPr id="279" name="Google Shape;279;p20"/>
          <p:cNvSpPr/>
          <p:nvPr/>
        </p:nvSpPr>
        <p:spPr>
          <a:xfrm>
            <a:off x="771525" y="1033462"/>
            <a:ext cx="7766599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0" title="Screenshot 2026-06-17 231347.png"/>
          <p:cNvPicPr preferRelativeResize="0"/>
          <p:nvPr/>
        </p:nvPicPr>
        <p:blipFill rotWithShape="1">
          <a:blip r:embed="rId4">
            <a:alphaModFix/>
          </a:blip>
          <a:srcRect t="15910"/>
          <a:stretch/>
        </p:blipFill>
        <p:spPr>
          <a:xfrm>
            <a:off x="427300" y="1547575"/>
            <a:ext cx="5317399" cy="47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0" title="Screenshot 2026-06-17 231439.png"/>
          <p:cNvPicPr preferRelativeResize="0"/>
          <p:nvPr/>
        </p:nvPicPr>
        <p:blipFill rotWithShape="1">
          <a:blip r:embed="rId5">
            <a:alphaModFix/>
          </a:blip>
          <a:srcRect t="15067"/>
          <a:stretch/>
        </p:blipFill>
        <p:spPr>
          <a:xfrm>
            <a:off x="6148900" y="1547575"/>
            <a:ext cx="5264688" cy="47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1866900" y="3600896"/>
            <a:ext cx="9553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771525" y="581025"/>
            <a:ext cx="112221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UI Screenshots</a:t>
            </a:r>
            <a:endParaRPr sz="1800"/>
          </a:p>
        </p:txBody>
      </p:sp>
      <p:sp>
        <p:nvSpPr>
          <p:cNvPr id="289" name="Google Shape;289;p21"/>
          <p:cNvSpPr/>
          <p:nvPr/>
        </p:nvSpPr>
        <p:spPr>
          <a:xfrm>
            <a:off x="771525" y="1033462"/>
            <a:ext cx="7766700" cy="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1" title="Screenshot 2026-06-17 231622.png"/>
          <p:cNvPicPr preferRelativeResize="0"/>
          <p:nvPr/>
        </p:nvPicPr>
        <p:blipFill rotWithShape="1">
          <a:blip r:embed="rId4">
            <a:alphaModFix/>
          </a:blip>
          <a:srcRect t="21017"/>
          <a:stretch/>
        </p:blipFill>
        <p:spPr>
          <a:xfrm>
            <a:off x="244400" y="1469575"/>
            <a:ext cx="5925950" cy="497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title="Screenshot 2026-06-17 231655.png"/>
          <p:cNvPicPr preferRelativeResize="0"/>
          <p:nvPr/>
        </p:nvPicPr>
        <p:blipFill rotWithShape="1">
          <a:blip r:embed="rId5">
            <a:alphaModFix/>
          </a:blip>
          <a:srcRect t="13194"/>
          <a:stretch/>
        </p:blipFill>
        <p:spPr>
          <a:xfrm>
            <a:off x="6355232" y="1469575"/>
            <a:ext cx="5391917" cy="497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1866900" y="3600896"/>
            <a:ext cx="9553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771525" y="581025"/>
            <a:ext cx="112221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UI Screenshots</a:t>
            </a:r>
            <a:endParaRPr sz="1800"/>
          </a:p>
        </p:txBody>
      </p:sp>
      <p:sp>
        <p:nvSpPr>
          <p:cNvPr id="299" name="Google Shape;299;p22"/>
          <p:cNvSpPr/>
          <p:nvPr/>
        </p:nvSpPr>
        <p:spPr>
          <a:xfrm>
            <a:off x="771525" y="1033462"/>
            <a:ext cx="7766700" cy="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2" title="Screenshot 2026-06-17 231803.png"/>
          <p:cNvPicPr preferRelativeResize="0"/>
          <p:nvPr/>
        </p:nvPicPr>
        <p:blipFill rotWithShape="1">
          <a:blip r:embed="rId4">
            <a:alphaModFix/>
          </a:blip>
          <a:srcRect t="15067"/>
          <a:stretch/>
        </p:blipFill>
        <p:spPr>
          <a:xfrm>
            <a:off x="345900" y="1424925"/>
            <a:ext cx="5732076" cy="51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/>
          <p:nvPr/>
        </p:nvSpPr>
        <p:spPr>
          <a:xfrm>
            <a:off x="1866900" y="3600896"/>
            <a:ext cx="9553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1866900" y="2576000"/>
            <a:ext cx="1112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THANK YOU!...</a:t>
            </a:r>
            <a:endParaRPr sz="6000"/>
          </a:p>
        </p:txBody>
      </p:sp>
      <p:sp>
        <p:nvSpPr>
          <p:cNvPr id="308" name="Google Shape;308;p23"/>
          <p:cNvSpPr/>
          <p:nvPr/>
        </p:nvSpPr>
        <p:spPr>
          <a:xfrm>
            <a:off x="771525" y="1033462"/>
            <a:ext cx="7766700" cy="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Widescreen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Plus Jakarta Sans ExtraBold</vt:lpstr>
      <vt:lpstr>Inter</vt:lpstr>
      <vt:lpstr>Inter SemiBold</vt:lpstr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Aiswarya P S</dc:creator>
  <cp:lastModifiedBy>Aiswarya P S</cp:lastModifiedBy>
  <cp:revision>1</cp:revision>
  <dcterms:modified xsi:type="dcterms:W3CDTF">2026-06-18T09:01:05Z</dcterms:modified>
</cp:coreProperties>
</file>